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6316239" y="140776"/>
            <a:ext cx="1886122" cy="1913007"/>
            <a:chOff x="0" y="0"/>
            <a:chExt cx="11582400" cy="11747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2"/>
              <a:stretch>
                <a:fillRect l="174" t="0" r="174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sp>
        <p:nvSpPr>
          <p:cNvPr id="41" name="TextBox 40"/>
          <p:cNvSpPr txBox="1"/>
          <p:nvPr/>
        </p:nvSpPr>
        <p:spPr>
          <a:xfrm>
            <a:off x="822960" y="548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HOW SCOOP IMPROVED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069848"/>
            <a:ext cx="150876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50" b="1" i="0">
                <a:solidFill>
                  <a:srgbClr val="23263B"/>
                </a:solidFill>
                <a:latin typeface="Cambria"/>
              </a:rPr>
              <a:t>What we improved in each iteration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2057400"/>
            <a:ext cx="1508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6B6F8C"/>
                </a:solidFill>
                <a:latin typeface="Calibri"/>
              </a:rPr>
              <a:t>AI-powered LINE Official Account for finding, booking and getting to fun things to do in Bangkok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20040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329184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3263B"/>
                </a:solidFill>
                <a:latin typeface="Calibri"/>
              </a:rPr>
              <a:t>Basic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3200400"/>
            <a:ext cx="65836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3088" y="320040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61688" y="329184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3263B"/>
                </a:solidFill>
                <a:latin typeface="Calibri"/>
              </a:rPr>
              <a:t>Helpful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3200400"/>
            <a:ext cx="65836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43216" y="320040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71816" y="329184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3263B"/>
                </a:solidFill>
                <a:latin typeface="Calibri"/>
              </a:rPr>
              <a:t>Fast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94976" y="3200400"/>
            <a:ext cx="65836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53344" y="320040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81944" y="329184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3263B"/>
                </a:solidFill>
                <a:latin typeface="Calibri"/>
              </a:rPr>
              <a:t>Safe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405104" y="3200400"/>
            <a:ext cx="65836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063472" y="3200400"/>
            <a:ext cx="2651760" cy="914400"/>
          </a:xfrm>
          <a:prstGeom prst="rect">
            <a:avLst/>
          </a:prstGeom>
          <a:solidFill>
            <a:srgbClr val="2F3C7E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292072" y="329184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Smart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" y="4846320"/>
            <a:ext cx="3703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5166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ITERATION 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56692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 i="0">
                <a:solidFill>
                  <a:srgbClr val="23263B"/>
                </a:solidFill>
                <a:latin typeface="Calibri"/>
              </a:rPr>
              <a:t>The first version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681228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Directions, train route and taxi fares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92040" y="4846320"/>
            <a:ext cx="3703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12080" y="5166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ITERATION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12080" y="56692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 i="0">
                <a:solidFill>
                  <a:srgbClr val="23263B"/>
                </a:solidFill>
                <a:latin typeface="Calibri"/>
              </a:rPr>
              <a:t>Fast and reliable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0" y="681228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Replies in 4–5 s, auto-reconnect, light design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4846320"/>
            <a:ext cx="3703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5166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ITERATION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1160" y="56692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 i="0">
                <a:solidFill>
                  <a:srgbClr val="23263B"/>
                </a:solidFill>
                <a:latin typeface="Calibri"/>
              </a:rPr>
              <a:t>Safe and trustworthy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60" y="681228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Guardrails and hard limits in code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030200" y="4846320"/>
            <a:ext cx="3703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350240" y="5166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ITERATION 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350240" y="56692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25" b="1" i="0">
                <a:solidFill>
                  <a:srgbClr val="23263B"/>
                </a:solidFill>
                <a:latin typeface="Calibri"/>
              </a:rPr>
              <a:t>More data, better matching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350240" y="681228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1,000 events, 596 places, 23 sports, walk-in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6316239" y="140776"/>
            <a:ext cx="1886122" cy="1913007"/>
            <a:chOff x="0" y="0"/>
            <a:chExt cx="11582400" cy="11747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2"/>
              <a:stretch>
                <a:fillRect l="174" t="0" r="174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sp>
        <p:nvSpPr>
          <p:cNvPr id="41" name="TextBox 40"/>
          <p:cNvSpPr txBox="1"/>
          <p:nvPr/>
        </p:nvSpPr>
        <p:spPr>
          <a:xfrm>
            <a:off x="822960" y="548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ITERATION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069848"/>
            <a:ext cx="150876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50" b="1" i="0">
                <a:solidFill>
                  <a:srgbClr val="23263B"/>
                </a:solidFill>
                <a:latin typeface="Cambria"/>
              </a:rPr>
              <a:t>The first version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2011680"/>
            <a:ext cx="1508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6B6F8C"/>
                </a:solidFill>
                <a:latin typeface="Calibri"/>
              </a:rPr>
              <a:t>Problem: the bot could find and book events, but did not help people get there, and prices felt too high.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2697480"/>
            <a:ext cx="15910559" cy="74980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269748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NOTICED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2697480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CHANGED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269748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3447288"/>
            <a:ext cx="4480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353872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No navigation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447288"/>
            <a:ext cx="5943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53872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Added "Getting there": the user shares their location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247120" y="3447288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75720" y="353872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BTS/MRT route, travel time and when to leave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5138928"/>
            <a:ext cx="448056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523036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No idea of travel cost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5138928"/>
            <a:ext cx="594360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32120" y="523036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Added fare estimates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47120" y="5138928"/>
            <a:ext cx="548640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75720" y="523036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Taxi meter, Grab / LINE MAN and train fares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6830568"/>
            <a:ext cx="4480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692200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Prices felt too 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6830568"/>
            <a:ext cx="5943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32120" y="692200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Reviewed event prices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47120" y="6830568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75720" y="692200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Some events are still expensive (food up to ฿12,000) and are flagged for adjustment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6316239" y="140776"/>
            <a:ext cx="1886122" cy="1913007"/>
            <a:chOff x="0" y="0"/>
            <a:chExt cx="11582400" cy="11747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2"/>
              <a:stretch>
                <a:fillRect l="174" t="0" r="174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sp>
        <p:nvSpPr>
          <p:cNvPr id="41" name="TextBox 40"/>
          <p:cNvSpPr txBox="1"/>
          <p:nvPr/>
        </p:nvSpPr>
        <p:spPr>
          <a:xfrm>
            <a:off x="822960" y="548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ITERATION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069848"/>
            <a:ext cx="150876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50" b="1" i="0">
                <a:solidFill>
                  <a:srgbClr val="23263B"/>
                </a:solidFill>
                <a:latin typeface="Cambria"/>
              </a:rPr>
              <a:t>Make it fast and reliable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2011680"/>
            <a:ext cx="1508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6B6F8C"/>
                </a:solidFill>
                <a:latin typeface="Calibri"/>
              </a:rPr>
              <a:t>Problem: replies were slow and the bot sometimes lost its connection to LINE.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2697480"/>
            <a:ext cx="15910559" cy="74980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269748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NOTICED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2697480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CHANGED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269748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3447288"/>
            <a:ext cx="4480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353872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Replies took 17–20 seconds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447288"/>
            <a:ext cx="5943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53872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Kept the AI model loaded with the same settings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247120" y="3447288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75720" y="353872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Replies in 4–5 seconds (searches about 9 seconds)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5138928"/>
            <a:ext cx="448056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523036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LINE rejected the link after each restart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5138928"/>
            <a:ext cx="594360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32120" y="523036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Added automatic retries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47120" y="5138928"/>
            <a:ext cx="548640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75720" y="523036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The bot reconnects by itself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6830568"/>
            <a:ext cx="4480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692200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Dark chat cards were hard to read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6830568"/>
            <a:ext cx="5943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32120" y="692200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Switched to a light design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47120" y="6830568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75720" y="692200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Easier to read; taxi and train cards are the same width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6316239" y="140776"/>
            <a:ext cx="1886122" cy="1913007"/>
            <a:chOff x="0" y="0"/>
            <a:chExt cx="11582400" cy="11747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2"/>
              <a:stretch>
                <a:fillRect l="174" t="0" r="174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sp>
        <p:nvSpPr>
          <p:cNvPr id="41" name="TextBox 40"/>
          <p:cNvSpPr txBox="1"/>
          <p:nvPr/>
        </p:nvSpPr>
        <p:spPr>
          <a:xfrm>
            <a:off x="822960" y="548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ITERATION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069848"/>
            <a:ext cx="150876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50" b="1" i="0">
                <a:solidFill>
                  <a:srgbClr val="23263B"/>
                </a:solidFill>
                <a:latin typeface="Cambria"/>
              </a:rPr>
              <a:t>Make it safe and trustworthy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2011680"/>
            <a:ext cx="1508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6B6F8C"/>
                </a:solidFill>
                <a:latin typeface="Calibri"/>
              </a:rPr>
              <a:t>Problem: the AI would respond to anything, including unsafe or off-topic requests.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2697480"/>
            <a:ext cx="15910559" cy="74980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269748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NOTICED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2697480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CHANGED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269748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3447288"/>
            <a:ext cx="4480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353872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No safety rules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447288"/>
            <a:ext cx="5943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53872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Added guardrails: stay on topic, refuse illegal requests, drinking-age check, emergency numbers, privacy, block prompt injection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247120" y="3447288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75720" y="353872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8 tricky test messages all handled correctly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5138928"/>
            <a:ext cx="448056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523036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The AI could ignore its rules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5138928"/>
            <a:ext cx="594360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32120" y="523036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Added hard limits in code: max 10 tickets, card and ID numbers removed, long messages cut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47120" y="5138928"/>
            <a:ext cx="548640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75720" y="523036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These limits cannot be bypassed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6830568"/>
            <a:ext cx="4480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692200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Rules were only in the code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6830568"/>
            <a:ext cx="5943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32120" y="692200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Documented every guardrail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47120" y="6830568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75720" y="692200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Clear for the team and reviewers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6316239" y="140776"/>
            <a:ext cx="1886122" cy="1913007"/>
            <a:chOff x="0" y="0"/>
            <a:chExt cx="11582400" cy="11747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2"/>
              <a:stretch>
                <a:fillRect l="174" t="0" r="174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sp>
        <p:nvSpPr>
          <p:cNvPr id="41" name="TextBox 40"/>
          <p:cNvSpPr txBox="1"/>
          <p:nvPr/>
        </p:nvSpPr>
        <p:spPr>
          <a:xfrm>
            <a:off x="822960" y="548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ITERATION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069848"/>
            <a:ext cx="150876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50" b="1" i="0">
                <a:solidFill>
                  <a:srgbClr val="23263B"/>
                </a:solidFill>
                <a:latin typeface="Cambria"/>
              </a:rPr>
              <a:t>More data, better matching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2011680"/>
            <a:ext cx="1508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6B6F8C"/>
                </a:solidFill>
                <a:latin typeface="Calibri"/>
              </a:rPr>
              <a:t>Problem: limited choice, and every event forced a booking, even free public ones.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2697480"/>
            <a:ext cx="15910559" cy="74980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269748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NOTICED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2697480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CHANGED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269748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3447288"/>
            <a:ext cx="4480560" cy="15041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3538728"/>
            <a:ext cx="402336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500 events at 332 places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447288"/>
            <a:ext cx="5943600" cy="15041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538728"/>
            <a:ext cx="548640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Added real places from OpenStreetMap, filtering out unsuitable ones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247120" y="3447288"/>
            <a:ext cx="5486400" cy="15041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75720" y="3538728"/>
            <a:ext cx="502920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1,000 events at 596 real places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4951476"/>
            <a:ext cx="4480560" cy="1504188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5042916"/>
            <a:ext cx="402336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Only generic "sports"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4951476"/>
            <a:ext cx="5943600" cy="1504188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32120" y="5042916"/>
            <a:ext cx="548640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Added activities with matching photos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47120" y="4951476"/>
            <a:ext cx="5486400" cy="1504188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75720" y="5042916"/>
            <a:ext cx="502920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23 activities (tennis, wakeboard, climbing, padel, golf…); users can ask "any tennis this week?"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6455664"/>
            <a:ext cx="4480560" cy="15041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6547104"/>
            <a:ext cx="402336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Little information about places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6455664"/>
            <a:ext cx="5943600" cy="15041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32120" y="6547104"/>
            <a:ext cx="548640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Added opening hours, address, website and social links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47120" y="6455664"/>
            <a:ext cx="5486400" cy="15041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75720" y="6547104"/>
            <a:ext cx="502920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Shown on cards and answered by the AI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" y="7959852"/>
            <a:ext cx="4480560" cy="1504188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" y="8051292"/>
            <a:ext cx="402336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Every event needed booking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0" y="7959852"/>
            <a:ext cx="5943600" cy="1504188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2120" y="8051292"/>
            <a:ext cx="548640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Businesses and programmes need booking; public walk-in events do not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247120" y="7959852"/>
            <a:ext cx="5486400" cy="1504188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475720" y="8051292"/>
            <a:ext cx="5029200" cy="1321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Walk-in events get "Add to calendar" with a reminder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6316239" y="140776"/>
            <a:ext cx="1886122" cy="1913007"/>
            <a:chOff x="0" y="0"/>
            <a:chExt cx="11582400" cy="11747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2"/>
              <a:stretch>
                <a:fillRect l="174" t="0" r="174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sp>
        <p:nvSpPr>
          <p:cNvPr id="41" name="TextBox 40"/>
          <p:cNvSpPr txBox="1"/>
          <p:nvPr/>
        </p:nvSpPr>
        <p:spPr>
          <a:xfrm>
            <a:off x="822960" y="548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ALSO IMPROVED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069848"/>
            <a:ext cx="150876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50" b="1" i="0">
                <a:solidFill>
                  <a:srgbClr val="23263B"/>
                </a:solidFill>
                <a:latin typeface="Cambria"/>
              </a:rPr>
              <a:t>Along the way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2377440"/>
            <a:ext cx="15910559" cy="74980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237744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NOTICED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2377440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WE CHANGED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237744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127248"/>
            <a:ext cx="4480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321868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Needed a promo video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3127248"/>
            <a:ext cx="5943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2120" y="321868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Built it from app screenshots, with voiceover, music and subtitles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247120" y="3127248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75720" y="321868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A 44-second video in 4K and 1080p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4818888"/>
            <a:ext cx="448056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4910328"/>
            <a:ext cx="4023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23263B"/>
                </a:solidFill>
                <a:latin typeface="Calibri"/>
              </a:rPr>
              <a:t>"ช่วยหางาน" sounded like job hunting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0" y="4818888"/>
            <a:ext cx="594360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32120" y="4910328"/>
            <a:ext cx="5486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Changed the Thai wording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47120" y="4818888"/>
            <a:ext cx="5486400" cy="1691640"/>
          </a:xfrm>
          <a:prstGeom prst="rect">
            <a:avLst/>
          </a:prstGeom>
          <a:solidFill>
            <a:srgbClr val="F4F4FA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75720" y="4910328"/>
            <a:ext cx="50292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B6F8C"/>
                </a:solidFill>
                <a:latin typeface="Calibri"/>
              </a:rPr>
              <a:t>"ช่วยหากิจกรรม" (help find activities)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3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6316239" y="140776"/>
            <a:ext cx="1886122" cy="1913007"/>
            <a:chOff x="0" y="0"/>
            <a:chExt cx="11582400" cy="11747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3136" y="244952"/>
              <a:ext cx="11306283" cy="11266943"/>
            </a:xfrm>
            <a:custGeom>
              <a:avLst/>
              <a:gdLst/>
              <a:ahLst/>
              <a:cxnLst/>
              <a:rect r="r" b="b" t="t" l="l"/>
              <a:pathLst>
                <a:path h="11266943" w="1130628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2"/>
              <a:stretch>
                <a:fillRect l="174" t="0" r="174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75567" cy="11745316"/>
            </a:xfrm>
            <a:custGeom>
              <a:avLst/>
              <a:gdLst/>
              <a:ahLst/>
              <a:cxnLst/>
              <a:rect r="r" b="b" t="t" l="l"/>
              <a:pathLst>
                <a:path h="11745316" w="11575567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3"/>
              <a:stretch>
                <a:fillRect l="-272" t="0" r="-272" b="0"/>
              </a:stretch>
            </a:blipFill>
          </p:spPr>
        </p:sp>
      </p:grpSp>
      <p:sp>
        <p:nvSpPr>
          <p:cNvPr id="41" name="TextBox 40"/>
          <p:cNvSpPr txBox="1"/>
          <p:nvPr/>
        </p:nvSpPr>
        <p:spPr>
          <a:xfrm>
            <a:off x="822960" y="548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96167"/>
                </a:solidFill>
                <a:latin typeface="Calibri"/>
              </a:rPr>
              <a:t>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069848"/>
            <a:ext cx="150876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50" b="1" i="0">
                <a:solidFill>
                  <a:srgbClr val="23263B"/>
                </a:solidFill>
                <a:latin typeface="Cambria"/>
              </a:rPr>
              <a:t>Basic → Helpful → Fast → Safe → Smart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292608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30175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3263B"/>
                </a:solidFill>
                <a:latin typeface="Calibri"/>
              </a:rPr>
              <a:t>Basic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2926080"/>
            <a:ext cx="65836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33088" y="292608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61688" y="30175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3263B"/>
                </a:solidFill>
                <a:latin typeface="Calibri"/>
              </a:rPr>
              <a:t>Helpful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84848" y="2926080"/>
            <a:ext cx="65836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43216" y="292608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71816" y="30175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3263B"/>
                </a:solidFill>
                <a:latin typeface="Calibri"/>
              </a:rPr>
              <a:t>Fast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94976" y="2926080"/>
            <a:ext cx="65836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53344" y="292608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81944" y="30175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3263B"/>
                </a:solidFill>
                <a:latin typeface="Calibri"/>
              </a:rPr>
              <a:t>Safe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405104" y="2926080"/>
            <a:ext cx="65836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063472" y="2926080"/>
            <a:ext cx="2651760" cy="914400"/>
          </a:xfrm>
          <a:prstGeom prst="rect">
            <a:avLst/>
          </a:prstGeom>
          <a:solidFill>
            <a:srgbClr val="2F3C7E"/>
          </a:solidFill>
          <a:ln w="9525">
            <a:solidFill>
              <a:srgbClr val="E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292072" y="30175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Smart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4572000"/>
            <a:ext cx="1508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3263B"/>
                </a:solidFill>
                <a:latin typeface="Calibri"/>
              </a:rPr>
              <a:t>Scoop grew from a basic demo bot into a safe AI assistant that knows 1,000 real Bangkok activities, shows how to get there and what it costs, and knows when you don't need to 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